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7eda0b950_0_5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7eda0b950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7eda0b950_0_6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7eda0b950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a822f2601_1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a822f260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a822f2601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a822f260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7eda0b950_0_7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7eda0b95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5a7f99e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5a7f99e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012325" y="2220413"/>
            <a:ext cx="5445900" cy="18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6208125" y="3236213"/>
            <a:ext cx="22500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accen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5680600" y="0"/>
            <a:ext cx="34632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2897794"/>
            <a:ext cx="4505400" cy="14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101100" y="2863389"/>
            <a:ext cx="2446500" cy="14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2767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65234" y="1146050"/>
            <a:ext cx="48090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▣"/>
              <a:defRPr sz="3000"/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Char char="□"/>
              <a:defRPr sz="3000"/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grpSp>
        <p:nvGrpSpPr>
          <p:cNvPr id="20" name="Google Shape;20;p4"/>
          <p:cNvGrpSpPr/>
          <p:nvPr/>
        </p:nvGrpSpPr>
        <p:grpSpPr>
          <a:xfrm>
            <a:off x="801025" y="1121365"/>
            <a:ext cx="1957200" cy="922385"/>
            <a:chOff x="801025" y="1190353"/>
            <a:chExt cx="1957200" cy="1229847"/>
          </a:xfrm>
        </p:grpSpPr>
        <p:sp>
          <p:nvSpPr>
            <p:cNvPr id="21" name="Google Shape;21;p4"/>
            <p:cNvSpPr txBox="1"/>
            <p:nvPr/>
          </p:nvSpPr>
          <p:spPr>
            <a:xfrm>
              <a:off x="801025" y="1190353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400">
                  <a:solidFill>
                    <a:srgbClr val="F0F2F6"/>
                  </a:solidFill>
                </a:rPr>
                <a:t>‘’</a:t>
              </a:r>
              <a:endParaRPr b="1" sz="9400">
                <a:solidFill>
                  <a:srgbClr val="F0F2F6"/>
                </a:solidFill>
              </a:endParaRPr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397400" y="1396000"/>
              <a:ext cx="772200" cy="1024200"/>
            </a:xfrm>
            <a:prstGeom prst="rect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0F2F6"/>
                </a:solidFill>
              </a:endParaRPr>
            </a:p>
          </p:txBody>
        </p:sp>
      </p:grp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91200" y="152400"/>
            <a:ext cx="7761600" cy="9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691200" y="1511100"/>
            <a:ext cx="7761600" cy="28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▣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□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813273" y="1205841"/>
            <a:ext cx="15336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0"/>
            <a:ext cx="1005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1005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813273" y="1205841"/>
            <a:ext cx="15336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691200" y="628125"/>
            <a:ext cx="7761600" cy="4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91200" y="1393425"/>
            <a:ext cx="3767400" cy="29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▣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685500" y="1393425"/>
            <a:ext cx="3767400" cy="29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▣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1005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813273" y="1205841"/>
            <a:ext cx="15336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691200" y="628125"/>
            <a:ext cx="7761600" cy="4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691200" y="1393425"/>
            <a:ext cx="2501700" cy="29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▣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3321088" y="1393425"/>
            <a:ext cx="2501700" cy="29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▣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5950975" y="1393425"/>
            <a:ext cx="2501700" cy="29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▣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0" y="0"/>
            <a:ext cx="1005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813273" y="1205841"/>
            <a:ext cx="15336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691200" y="628125"/>
            <a:ext cx="7761600" cy="4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258875"/>
            <a:ext cx="8229600" cy="7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</a:lstStyle>
          <a:p/>
        </p:txBody>
      </p:sp>
      <p:sp>
        <p:nvSpPr>
          <p:cNvPr id="52" name="Google Shape;52;p9"/>
          <p:cNvSpPr/>
          <p:nvPr/>
        </p:nvSpPr>
        <p:spPr>
          <a:xfrm>
            <a:off x="3805198" y="4212742"/>
            <a:ext cx="1533600" cy="10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-4" y="5040225"/>
            <a:ext cx="9144000" cy="10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4297650" y="477748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-4" y="5040225"/>
            <a:ext cx="9144000" cy="10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4297650" y="477748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</a:defRPr>
            </a:lvl1pPr>
            <a:lvl2pPr lvl="1" rtl="0" algn="ctr">
              <a:buNone/>
              <a:defRPr>
                <a:solidFill>
                  <a:srgbClr val="FFFFFF"/>
                </a:solidFill>
              </a:defRPr>
            </a:lvl2pPr>
            <a:lvl3pPr lvl="2" rtl="0" algn="ctr">
              <a:buNone/>
              <a:defRPr>
                <a:solidFill>
                  <a:srgbClr val="FFFFFF"/>
                </a:solidFill>
              </a:defRPr>
            </a:lvl3pPr>
            <a:lvl4pPr lvl="3" rtl="0" algn="ctr">
              <a:buNone/>
              <a:defRPr>
                <a:solidFill>
                  <a:srgbClr val="FFFFFF"/>
                </a:solidFill>
              </a:defRPr>
            </a:lvl4pPr>
            <a:lvl5pPr lvl="4" rtl="0" algn="ctr">
              <a:buNone/>
              <a:defRPr>
                <a:solidFill>
                  <a:srgbClr val="FFFFFF"/>
                </a:solidFill>
              </a:defRPr>
            </a:lvl5pPr>
            <a:lvl6pPr lvl="5" rtl="0" algn="ctr">
              <a:buNone/>
              <a:defRPr>
                <a:solidFill>
                  <a:srgbClr val="FFFFFF"/>
                </a:solidFill>
              </a:defRPr>
            </a:lvl6pPr>
            <a:lvl7pPr lvl="6" rtl="0" algn="ctr">
              <a:buNone/>
              <a:defRPr>
                <a:solidFill>
                  <a:srgbClr val="FFFFFF"/>
                </a:solidFill>
              </a:defRPr>
            </a:lvl7pPr>
            <a:lvl8pPr lvl="7" rtl="0" algn="ctr">
              <a:buNone/>
              <a:defRPr>
                <a:solidFill>
                  <a:srgbClr val="FFFFFF"/>
                </a:solidFill>
              </a:defRPr>
            </a:lvl8pPr>
            <a:lvl9pPr lvl="8" rtl="0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91200" y="628125"/>
            <a:ext cx="7761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91200" y="1511100"/>
            <a:ext cx="77616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▣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b="1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4555425" y="3544450"/>
            <a:ext cx="390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0F2F6"/>
                </a:solidFill>
                <a:latin typeface="Montserrat"/>
                <a:ea typeface="Montserrat"/>
                <a:cs typeface="Montserrat"/>
                <a:sym typeface="Montserrat"/>
              </a:rPr>
              <a:t>Un proiect în C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1"/>
          <p:cNvSpPr txBox="1"/>
          <p:nvPr>
            <p:ph type="ctrTitle"/>
          </p:nvPr>
        </p:nvSpPr>
        <p:spPr>
          <a:xfrm>
            <a:off x="948225" y="667680"/>
            <a:ext cx="7509900" cy="24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0F2F6"/>
                </a:solidFill>
              </a:rPr>
              <a:t>Calculator pentru numere mari</a:t>
            </a:r>
            <a:endParaRPr>
              <a:solidFill>
                <a:srgbClr val="F0F2F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546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ctrTitle"/>
          </p:nvPr>
        </p:nvSpPr>
        <p:spPr>
          <a:xfrm>
            <a:off x="702175" y="3051794"/>
            <a:ext cx="4505400" cy="14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70ABAF"/>
                </a:solidFill>
              </a:rPr>
              <a:t>1.</a:t>
            </a:r>
            <a:endParaRPr sz="9600">
              <a:solidFill>
                <a:srgbClr val="70ABA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 proiectului</a:t>
            </a:r>
            <a:endParaRPr/>
          </a:p>
        </p:txBody>
      </p:sp>
      <p:sp>
        <p:nvSpPr>
          <p:cNvPr id="69" name="Google Shape;69;p12"/>
          <p:cNvSpPr txBox="1"/>
          <p:nvPr>
            <p:ph idx="1" type="subTitle"/>
          </p:nvPr>
        </p:nvSpPr>
        <p:spPr>
          <a:xfrm>
            <a:off x="5855400" y="3118850"/>
            <a:ext cx="2940900" cy="12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Descriere. Concepte din curs.</a:t>
            </a:r>
            <a:endParaRPr/>
          </a:p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691200" y="628125"/>
            <a:ext cx="7761600" cy="4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Descriere</a:t>
            </a:r>
            <a:endParaRPr/>
          </a:p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778075" y="1121625"/>
            <a:ext cx="8124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calculator care află suma/diferența unor numere mari, cu semn.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citit cele două numere ca niște șiruri de caractere. În doi vectori am pus fiecare cifră din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numere, iar rezultatul l-am calculat într-un alt vector. Dacă vectorii care conțin numerele nu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aveau aceeași dimensiune, puneam 0 în stânga numărului, astfel încât să ajungă la aceeași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dimensiune cu celălalt număr (ex: 12345678 si 1234 -&gt; 00001234)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0" l="0" r="0" t="2581"/>
          <a:stretch/>
        </p:blipFill>
        <p:spPr>
          <a:xfrm>
            <a:off x="242500" y="2670050"/>
            <a:ext cx="4721900" cy="21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075" y="2670050"/>
            <a:ext cx="3941947" cy="21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442275" y="40950"/>
            <a:ext cx="7174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În funcție de operația pe care o alegem și de semnele numerelor, am descoperit două cazuri: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 Se adună numerele, iar rezultatul are semnul primului număr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Se compară (compar de la stânga la dreapta, elementele de pe aceeași poziție), se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scad, iar rezultatul are semnul numărului mai mare.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Semn operație: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„+” :   - semne diferite -&gt; cazul 2)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semne identice -&gt; cazul 1)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„-”:     - semne diferite -&gt; cazul 1)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semne identice -&gt; cazul 2)</a:t>
            </a:r>
            <a:endParaRPr/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400" y="2596050"/>
            <a:ext cx="3868950" cy="24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5450" y="2596050"/>
            <a:ext cx="3711317" cy="24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219675" y="2040750"/>
            <a:ext cx="433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După ce am calculat rezultatul, am pus numărul cu semn într-un alt șir de caractere pe care l-am afișat.</a:t>
            </a:r>
            <a:endParaRPr sz="1900"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25" y="284199"/>
            <a:ext cx="3092200" cy="457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691200" y="381000"/>
            <a:ext cx="7761600" cy="9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Concepte din curs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691200" y="1564750"/>
            <a:ext cx="7761600" cy="28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Am folosit alocarea memoriei pentru vectorii care rețin numerele și rezultatul, dar și pentru șirul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 caractere al rezultatului. Am lucrat cu pointeri, toți vectorii și șirurile de caractere fiind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inițializați astfel.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5104" l="-724" r="-1326" t="4389"/>
          <a:stretch/>
        </p:blipFill>
        <p:spPr>
          <a:xfrm rot="-277983">
            <a:off x="1473470" y="1057907"/>
            <a:ext cx="3295064" cy="3347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556775" y="475843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195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35563"/>
            <a:ext cx="42195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95838"/>
            <a:ext cx="42195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4375" y="152400"/>
            <a:ext cx="42291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4375" y="1721275"/>
            <a:ext cx="42291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24363" y="3581550"/>
            <a:ext cx="42291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747488" y="993675"/>
            <a:ext cx="302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Adunare, numere cu acelasi semn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090325" y="4438800"/>
            <a:ext cx="309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Scadere,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numere cu semne diferite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747500" y="4438800"/>
            <a:ext cx="302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Adunare, numere cu acelasi semn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124213" y="2588675"/>
            <a:ext cx="302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Scadere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, numere cu acelasi semn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81350" y="2588675"/>
            <a:ext cx="316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Adunare, numere cu semne diferite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5124213" y="993675"/>
            <a:ext cx="302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Scadere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, numere cu acelasi semn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0" y="-800250"/>
            <a:ext cx="9144000" cy="9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4294967295" type="subTitle"/>
          </p:nvPr>
        </p:nvSpPr>
        <p:spPr>
          <a:xfrm>
            <a:off x="1404748" y="1985702"/>
            <a:ext cx="63345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6000"/>
              <a:t>Vă mulțumesc!</a:t>
            </a:r>
            <a:endParaRPr b="1" sz="6000"/>
          </a:p>
        </p:txBody>
      </p:sp>
      <p:sp>
        <p:nvSpPr>
          <p:cNvPr id="130" name="Google Shape;130;p19"/>
          <p:cNvSpPr txBox="1"/>
          <p:nvPr>
            <p:ph idx="4294967295" type="body"/>
          </p:nvPr>
        </p:nvSpPr>
        <p:spPr>
          <a:xfrm>
            <a:off x="6198500" y="4176644"/>
            <a:ext cx="66651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Proiect realizat de: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Ionescu Ioana</a:t>
            </a:r>
            <a:endParaRPr sz="1300"/>
          </a:p>
        </p:txBody>
      </p:sp>
      <p:sp>
        <p:nvSpPr>
          <p:cNvPr id="131" name="Google Shape;131;p19"/>
          <p:cNvSpPr/>
          <p:nvPr/>
        </p:nvSpPr>
        <p:spPr>
          <a:xfrm>
            <a:off x="5969895" y="4100449"/>
            <a:ext cx="2874000" cy="1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4F5B"/>
              </a:solidFill>
            </a:endParaRPr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4297650" y="4777483"/>
            <a:ext cx="548700" cy="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demona template">
  <a:themeElements>
    <a:clrScheme name="Custom 347">
      <a:dk1>
        <a:srgbClr val="5B5463"/>
      </a:dk1>
      <a:lt1>
        <a:srgbClr val="F0F2F6"/>
      </a:lt1>
      <a:dk2>
        <a:srgbClr val="89929B"/>
      </a:dk2>
      <a:lt2>
        <a:srgbClr val="EFF1F3"/>
      </a:lt2>
      <a:accent1>
        <a:srgbClr val="F0F2F6"/>
      </a:accent1>
      <a:accent2>
        <a:srgbClr val="7184B0"/>
      </a:accent2>
      <a:accent3>
        <a:srgbClr val="454F5B"/>
      </a:accent3>
      <a:accent4>
        <a:srgbClr val="738498"/>
      </a:accent4>
      <a:accent5>
        <a:srgbClr val="A6B5C7"/>
      </a:accent5>
      <a:accent6>
        <a:srgbClr val="D4DAE0"/>
      </a:accent6>
      <a:hlink>
        <a:srgbClr val="454F5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